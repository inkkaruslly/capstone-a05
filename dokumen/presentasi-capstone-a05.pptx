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A05  /  KELOMPOK 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601200" y="651052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BUKTI OPERASIONAL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583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0D6C6"/>
                </a:solidFill>
              </a:rPr>
              <a:t>CAPSTONE A05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1325880"/>
            <a:ext cx="694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Tiket bantuan pelanggan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berbasis message broker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7D8E8"/>
                </a:solidFill>
              </a:rPr>
              <a:t>Bukti alur event, pemulihan consumer, idempotensi, dan batas prototipe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5193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Kelompok 3  |  Kode kasus A05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0" y="4754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D8E8"/>
                </a:solidFill>
              </a:rPr>
              <a:t>Floribertus Yericho Pramudya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C7D8E8"/>
                </a:solidFill>
              </a:rPr>
              <a:t>Inkka Ruslly Dwitama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C7D8E8"/>
                </a:solidFill>
              </a:rPr>
              <a:t>Luqman Adhi Kuncoro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26680" y="1051560"/>
            <a:ext cx="3337560" cy="2514600"/>
          </a:xfrm>
          <a:prstGeom prst="roundRect">
            <a:avLst>
              <a:gd name="adj" fmla="val 2909"/>
            </a:avLst>
          </a:prstGeom>
          <a:solidFill>
            <a:srgbClr val="244D72"/>
          </a:solidFill>
          <a:ln w="15240">
            <a:solidFill>
              <a:srgbClr val="4F7F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37160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30" kern="0" dirty="0">
                <a:solidFill>
                  <a:srgbClr val="70D6C6"/>
                </a:solidFill>
              </a:rPr>
              <a:t>EVENT PIPELINE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321040" y="1828800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D9EEF7"/>
          </a:solidFill>
          <a:ln w="12700">
            <a:solidFill>
              <a:srgbClr val="D9E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888236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65D"/>
                </a:solidFill>
              </a:rPr>
              <a:t>ticket.created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321040" y="2313432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D9EEF7"/>
          </a:solidFill>
          <a:ln w="12700">
            <a:solidFill>
              <a:srgbClr val="D9E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372868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65D"/>
                </a:solidFill>
              </a:rPr>
              <a:t>triage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321040" y="2798064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70D6C6"/>
          </a:solidFill>
          <a:ln w="12700">
            <a:solidFill>
              <a:srgbClr val="70D6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857500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65D"/>
                </a:solidFill>
              </a:rPr>
              <a:t>ASSIGNED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400032" y="2103120"/>
            <a:ext cx="0" cy="164592"/>
          </a:xfrm>
          <a:prstGeom prst="line">
            <a:avLst/>
          </a:prstGeom>
          <a:noFill/>
          <a:ln w="22860">
            <a:solidFill>
              <a:srgbClr val="70D6C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400032" y="2587752"/>
            <a:ext cx="0" cy="164592"/>
          </a:xfrm>
          <a:prstGeom prst="line">
            <a:avLst/>
          </a:prstGeom>
          <a:noFill/>
          <a:ln w="22860">
            <a:solidFill>
              <a:srgbClr val="70D6C6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F766E"/>
                </a:solidFill>
              </a:rPr>
              <a:t>01 / MASALAH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</a:rPr>
              <a:t>Dari request tiket menjadi efek bisnis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3"/>
                </a:solidFill>
              </a:rPr>
              <a:t>Klaim dibuktikan lewat ID event, status assignment, dan keadaan queue.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627632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27632"/>
            <a:ext cx="73152" cy="141732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556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65D"/>
                </a:solidFill>
              </a:rPr>
              <a:t>Masalah operasional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31089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033"/>
                </a:solidFill>
              </a:rPr>
              <a:t>Pesan harus tetap tersedia saat worker berhenti, tidak diproses dua kali saat replay, dan tidak masuk retry loop ketika invalid.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70832" y="1627632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1627632"/>
            <a:ext cx="73152" cy="141732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7556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65D"/>
                </a:solidFill>
              </a:rPr>
              <a:t>Cakupan prototipe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53712" y="2057400"/>
            <a:ext cx="31089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033"/>
                </a:solidFill>
              </a:rPr>
              <a:t>Gateway HTTP -&gt; RabbitMQ -&gt; worker -&gt; PostgreSQL. Kategori tiket menentukan antrean layanan.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147304" y="1627632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47304" y="1627632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17556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65D"/>
                </a:solidFill>
              </a:rPr>
              <a:t>Efek bisnis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30184" y="2057400"/>
            <a:ext cx="31089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033"/>
                </a:solidFill>
              </a:rPr>
              <a:t>Tiket valid menjadi assignment: FINANCE, TECH, atau GENERAL. Pesan invalid tercatat dan berhenti diproses.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21792" y="3474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F766E"/>
                </a:solidFill>
              </a:rPr>
              <a:t>EMPAT KLAIM YANG DIUJI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792" y="3840480"/>
            <a:ext cx="2514600" cy="1207008"/>
          </a:xfrm>
          <a:prstGeom prst="roundRect">
            <a:avLst>
              <a:gd name="adj" fmla="val 3030"/>
            </a:avLst>
          </a:prstGeom>
          <a:solidFill>
            <a:srgbClr val="DDF4E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40416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U1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43584" y="40233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365D"/>
                </a:solidFill>
              </a:rPr>
              <a:t>20 event normal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6384" y="44805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20 assignment unik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56432" y="3840480"/>
            <a:ext cx="2514600" cy="1207008"/>
          </a:xfrm>
          <a:prstGeom prst="roundRect">
            <a:avLst>
              <a:gd name="adj" fmla="val 3030"/>
            </a:avLst>
          </a:prstGeom>
          <a:solidFill>
            <a:srgbClr val="D9EE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21024" y="40416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U2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078224" y="40233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365D"/>
                </a:solidFill>
              </a:rPr>
              <a:t>Worker berhenti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21024" y="44805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5 pesan tertahan lalu pulih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91072" y="3840480"/>
            <a:ext cx="2514600" cy="1207008"/>
          </a:xfrm>
          <a:prstGeom prst="roundRect">
            <a:avLst>
              <a:gd name="adj" fmla="val 3030"/>
            </a:avLst>
          </a:prstGeom>
          <a:solidFill>
            <a:srgbClr val="FFF2C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55664" y="40416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U3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12864" y="40233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365D"/>
                </a:solidFill>
              </a:rPr>
              <a:t>Replay N01-N05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55664" y="44805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Total tetap 25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25712" y="3840480"/>
            <a:ext cx="2514600" cy="1207008"/>
          </a:xfrm>
          <a:prstGeom prst="roundRect">
            <a:avLst>
              <a:gd name="adj" fmla="val 3030"/>
            </a:avLst>
          </a:prstGeom>
          <a:solidFill>
            <a:srgbClr val="FDE7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90304" y="40416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U4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747504" y="40233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365D"/>
                </a:solidFill>
              </a:rPr>
              <a:t>X01 invalid + V01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290304" y="44805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26 assignment + 1 rejected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565099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526173"/>
                </a:solidFill>
              </a:rPr>
              <a:t>Fokus presentasi: setiap klaim diikuti bukti persisten atau observasi broker, bukan hanya log aplikasi.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F766E"/>
                </a:solidFill>
              </a:rPr>
              <a:t>02 / DIAGRAM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</a:rPr>
              <a:t>Satu jalur event, satu titik tanggung jawab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3"/>
                </a:solidFill>
              </a:rPr>
              <a:t>Exchange merutekan; queue menahan; worker memutuskan; database menyimpan efek bisnis.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353312" cy="960120"/>
          </a:xfrm>
          <a:prstGeom prst="roundRect">
            <a:avLst>
              <a:gd name="adj" fmla="val 3810"/>
            </a:avLst>
          </a:prstGeom>
          <a:solidFill>
            <a:srgbClr val="D9EE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51460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65D"/>
                </a:solidFill>
              </a:rPr>
              <a:t>CLIENT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67512" y="2816352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72033"/>
                </a:solidFill>
              </a:rPr>
              <a:t>U1-U4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48840" y="2331720"/>
            <a:ext cx="1353312" cy="960120"/>
          </a:xfrm>
          <a:prstGeom prst="roundRect">
            <a:avLst>
              <a:gd name="adj" fmla="val 3810"/>
            </a:avLst>
          </a:prstGeom>
          <a:solidFill>
            <a:srgbClr val="E8F1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21992" y="251460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65D"/>
                </a:solidFill>
              </a:rPr>
              <a:t>GATEWAY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21992" y="2816352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72033"/>
                </a:solidFill>
              </a:rPr>
              <a:t>POST /tickets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58768" y="2331720"/>
            <a:ext cx="1353312" cy="960120"/>
          </a:xfrm>
          <a:prstGeom prst="roundRect">
            <a:avLst>
              <a:gd name="adj" fmla="val 3810"/>
            </a:avLst>
          </a:prstGeom>
          <a:solidFill>
            <a:srgbClr val="E8F1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251460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65D"/>
                </a:solidFill>
              </a:rPr>
              <a:t>EXCHANGE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931920" y="2816352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72033"/>
                </a:solidFill>
              </a:rPr>
              <a:t>support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77840" y="2331720"/>
            <a:ext cx="1353312" cy="960120"/>
          </a:xfrm>
          <a:prstGeom prst="roundRect">
            <a:avLst>
              <a:gd name="adj" fmla="val 3810"/>
            </a:avLst>
          </a:prstGeom>
          <a:solidFill>
            <a:srgbClr val="FFF2C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50992" y="251460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65D"/>
                </a:solidFill>
              </a:rPr>
              <a:t>ROUTING KEY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50992" y="2816352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72033"/>
                </a:solidFill>
              </a:rPr>
              <a:t>ticket.created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543800" y="2331720"/>
            <a:ext cx="1353312" cy="960120"/>
          </a:xfrm>
          <a:prstGeom prst="roundRect">
            <a:avLst>
              <a:gd name="adj" fmla="val 3810"/>
            </a:avLst>
          </a:prstGeom>
          <a:solidFill>
            <a:srgbClr val="E8F1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16952" y="251460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65D"/>
                </a:solidFill>
              </a:rPr>
              <a:t>QUEUE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616952" y="2816352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72033"/>
                </a:solidFill>
              </a:rPr>
              <a:t>triage / durable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464040" y="2331720"/>
            <a:ext cx="1353312" cy="960120"/>
          </a:xfrm>
          <a:prstGeom prst="roundRect">
            <a:avLst>
              <a:gd name="adj" fmla="val 3810"/>
            </a:avLst>
          </a:prstGeom>
          <a:solidFill>
            <a:srgbClr val="DDF4E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37192" y="251460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65D"/>
                </a:solidFill>
              </a:rPr>
              <a:t>WORKER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537192" y="2816352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72033"/>
                </a:solidFill>
              </a:rPr>
              <a:t>validate + assign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947672" y="2816352"/>
            <a:ext cx="201168" cy="0"/>
          </a:xfrm>
          <a:prstGeom prst="line">
            <a:avLst/>
          </a:prstGeom>
          <a:noFill/>
          <a:ln w="22860">
            <a:solidFill>
              <a:srgbClr val="2D6A9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502152" y="2816352"/>
            <a:ext cx="356616" cy="0"/>
          </a:xfrm>
          <a:prstGeom prst="line">
            <a:avLst/>
          </a:prstGeom>
          <a:noFill/>
          <a:ln w="22860">
            <a:solidFill>
              <a:srgbClr val="2D6A9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212080" y="2816352"/>
            <a:ext cx="365760" cy="0"/>
          </a:xfrm>
          <a:prstGeom prst="line">
            <a:avLst/>
          </a:prstGeom>
          <a:noFill/>
          <a:ln w="22860">
            <a:solidFill>
              <a:srgbClr val="2D6A9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931152" y="2816352"/>
            <a:ext cx="612648" cy="0"/>
          </a:xfrm>
          <a:prstGeom prst="line">
            <a:avLst/>
          </a:prstGeom>
          <a:noFill/>
          <a:ln w="22860">
            <a:solidFill>
              <a:srgbClr val="2D6A9F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897112" y="2816352"/>
            <a:ext cx="566928" cy="0"/>
          </a:xfrm>
          <a:prstGeom prst="line">
            <a:avLst/>
          </a:prstGeom>
          <a:noFill/>
          <a:ln w="22860">
            <a:solidFill>
              <a:srgbClr val="2D6A9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840480" y="3977640"/>
            <a:ext cx="4480560" cy="102412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69080" y="42336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65D"/>
                </a:solidFill>
              </a:rPr>
              <a:t>POSTGRESQL  /  capstone_a05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069080" y="457200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6173"/>
                </a:solidFill>
              </a:rPr>
              <a:t>ticket_assignments  |  rejected_messages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149840" y="3291840"/>
            <a:ext cx="-2011680" cy="676656"/>
          </a:xfrm>
          <a:prstGeom prst="line">
            <a:avLst/>
          </a:prstGeom>
          <a:noFill/>
          <a:ln w="2286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641080" y="346557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766E"/>
                </a:solidFill>
              </a:rPr>
              <a:t>persist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40080" y="166420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F766E"/>
                </a:solidFill>
              </a:rPr>
              <a:t>DURABLE CONTRACT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0080" y="55321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65D"/>
                </a:solidFill>
              </a:rPr>
              <a:t>support -&gt; triage -&gt; ticket.created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75120" y="553212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0F766E"/>
                </a:solidFill>
              </a:rPr>
              <a:t>ACK hanya setelah database berhasil.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F766E"/>
                </a:solidFill>
              </a:rPr>
              <a:t>03 / EVENT JOURNEY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</a:rPr>
              <a:t>Satu event sampai efek bisnis: V01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3"/>
                </a:solidFill>
              </a:rPr>
              <a:t>Input yang sama dapat ditelusuri dari HTTP sampai assignment layanan.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2834640" cy="1965960"/>
          </a:xfrm>
          <a:prstGeom prst="roundRect">
            <a:avLst>
              <a:gd name="adj" fmla="val 186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72821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9EEF7"/>
                </a:solidFill>
              </a:rPr>
              <a:t>INPUT / EVENT PAYLOAD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58952" y="1993392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{"event_id":"run01-V01",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"ticket_id":"TKT-V01",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"category":"billing",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"subject":"Tiket valid"}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1600200"/>
            <a:ext cx="2834640" cy="1965960"/>
          </a:xfrm>
          <a:prstGeom prst="roundRect">
            <a:avLst>
              <a:gd name="adj" fmla="val 186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72821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F2CC"/>
                </a:solidFill>
              </a:rPr>
              <a:t>BROKER / ROUTE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828032" y="1993392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 202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exchange: support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routing key: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ticket.created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queue: triage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732520" y="1600200"/>
            <a:ext cx="2834640" cy="1965960"/>
          </a:xfrm>
          <a:prstGeom prst="roundRect">
            <a:avLst>
              <a:gd name="adj" fmla="val 186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97112" y="172821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DF4EA"/>
                </a:solidFill>
              </a:rPr>
              <a:t>DATABASE / OUTCOME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897112" y="1993392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run01-V01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TKT-V01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ASSIGNED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93008" y="2560320"/>
            <a:ext cx="1005840" cy="0"/>
          </a:xfrm>
          <a:prstGeom prst="line">
            <a:avLst/>
          </a:prstGeom>
          <a:noFill/>
          <a:ln w="22860">
            <a:solidFill>
              <a:srgbClr val="2D6A9F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493008" y="23957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D6A9F"/>
                </a:solidFill>
              </a:rPr>
              <a:t>publish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562088" y="2560320"/>
            <a:ext cx="1005840" cy="0"/>
          </a:xfrm>
          <a:prstGeom prst="line">
            <a:avLst/>
          </a:prstGeom>
          <a:noFill/>
          <a:ln w="2286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562088" y="23957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766E"/>
                </a:solidFill>
              </a:rPr>
              <a:t>consume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11680" y="4297680"/>
            <a:ext cx="8138160" cy="914400"/>
          </a:xfrm>
          <a:prstGeom prst="roundRect">
            <a:avLst>
              <a:gd name="adj" fmla="val 4000"/>
            </a:avLst>
          </a:prstGeom>
          <a:solidFill>
            <a:srgbClr val="DDF4EA"/>
          </a:solidFill>
          <a:ln w="12700">
            <a:solidFill>
              <a:srgbClr val="A7D9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45262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F766E"/>
                </a:solidFill>
              </a:rPr>
              <a:t>EFEK BISNIS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703320" y="446227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Tiket billing masuk antrean FINANCE dan berstatus ASSIGNED; event di-ACK setelah COMMIT.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71500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526173"/>
                </a:solidFill>
              </a:rPr>
              <a:t>Jejak bukti: evidence/U4/01-input.md -&gt; evidence/U4/04-log-penting.md -&gt; database ticket_assignments.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F766E"/>
                </a:solidFill>
              </a:rPr>
              <a:t>04 / RECOVERY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</a:rPr>
              <a:t>Worker mati bukan berarti event hilang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3"/>
                </a:solidFill>
              </a:rPr>
              <a:t>U2 memisahkan bukti sebelum recovery dan sesudah worker kembali.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337560" cy="1828800"/>
          </a:xfrm>
          <a:prstGeom prst="roundRect">
            <a:avLst>
              <a:gd name="adj" fmla="val 2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2821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F2CC"/>
                </a:solidFill>
              </a:rPr>
              <a:t>SEBELUM RECOVERY / WORKER STOP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4672" y="1993392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run01-G01 ... G05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 202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triage: messages_ready=5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unacked=0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consumers=0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434840" y="1600200"/>
            <a:ext cx="3337560" cy="1828800"/>
          </a:xfrm>
          <a:prstGeom prst="roundRect">
            <a:avLst>
              <a:gd name="adj" fmla="val 2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72821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9EEF7"/>
                </a:solidFill>
              </a:rPr>
              <a:t>TINDAKAN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99432" y="1993392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npm run worker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queue durable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pre-fetch = 1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consumer pulih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0" y="1600200"/>
            <a:ext cx="3337560" cy="1828800"/>
          </a:xfrm>
          <a:prstGeom prst="roundRect">
            <a:avLst>
              <a:gd name="adj" fmla="val 2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4192" y="172821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DF4EA"/>
                </a:solidFill>
              </a:rPr>
              <a:t>SESUDAH RECOVERY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394192" y="1993392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G01 FINANCE ASSIGNED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G02 TECH ASSIGNED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G03 GENERAL ASSIGNED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G04 FINANCE ASSIGNED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G05 TECH ASSIGNED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78224" y="2514600"/>
            <a:ext cx="246888" cy="0"/>
          </a:xfrm>
          <a:prstGeom prst="line">
            <a:avLst/>
          </a:prstGeom>
          <a:noFill/>
          <a:ln w="2286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882128" y="2514600"/>
            <a:ext cx="237744" cy="0"/>
          </a:xfrm>
          <a:prstGeom prst="line">
            <a:avLst/>
          </a:prstGeom>
          <a:noFill/>
          <a:ln w="2286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874520" y="4160520"/>
            <a:ext cx="845820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44165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F766E"/>
                </a:solidFill>
              </a:rPr>
              <a:t>BUKTI HASIL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20440" y="435254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5 ID G ditemukan di PostgreSQL  -&gt;  assignment total naik dari 20 menjadi 25  -&gt;  tidak ada pesan hilang.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66928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526173"/>
                </a:solidFill>
              </a:rPr>
              <a:t>Bukti mentah: evidence/U2/04-log-penting.md dan evidence/U2/05-observasi-broker.md.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F766E"/>
                </a:solidFill>
              </a:rPr>
              <a:t>05 / RELIABILITY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</a:rPr>
              <a:t>Replay tidak menggandakan efek bisnis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3"/>
                </a:solidFill>
              </a:rPr>
              <a:t>Dua kasus berbeda: duplicate valid di-ACK; invalid dicatat lalu dihentikan.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257800" cy="2057400"/>
          </a:xfrm>
          <a:prstGeom prst="roundRect">
            <a:avLst>
              <a:gd name="adj" fmla="val 177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3677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F2CC"/>
                </a:solidFill>
              </a:rPr>
              <a:t>U3 / DUPLIKASI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4672" y="1901952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Replay: run01-N01 ... N05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Expected record baru: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Actual record baru: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Total sebelum: 25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Total sesudah: 25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UNIQUE event_id + pre-insert check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57800" cy="2057400"/>
          </a:xfrm>
          <a:prstGeom prst="roundRect">
            <a:avLst>
              <a:gd name="adj" fmla="val 177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63677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DE7E7"/>
                </a:solidFill>
              </a:rPr>
              <a:t>U4 / INVALID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473952" y="1901952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run01-X01 | HTTP 400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Reason: ticket_id wajib diisi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rejected_messages: 1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run01-V01 | HTTP 202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FINANCE / ASSIGNED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5257800" cy="960120"/>
          </a:xfrm>
          <a:prstGeom prst="roundRect">
            <a:avLst>
              <a:gd name="adj" fmla="val 3810"/>
            </a:avLst>
          </a:prstGeom>
          <a:solidFill>
            <a:srgbClr val="DDF4EA"/>
          </a:solidFill>
          <a:ln w="12700">
            <a:solidFill>
              <a:srgbClr val="A7D9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42569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F766E"/>
                </a:solidFill>
              </a:rPr>
              <a:t>CLAIM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91640" y="435254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Replay aman: tidak ada assignment kedua.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4160520"/>
            <a:ext cx="5257800" cy="960120"/>
          </a:xfrm>
          <a:prstGeom prst="roundRect">
            <a:avLst>
              <a:gd name="adj" fmla="val 3810"/>
            </a:avLst>
          </a:prstGeom>
          <a:solidFill>
            <a:srgbClr val="D9EEF7"/>
          </a:solidFill>
          <a:ln w="12700">
            <a:solidFill>
              <a:srgbClr val="A7CF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442569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F766E"/>
                </a:solidFill>
              </a:rPr>
              <a:t>CLAIM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60920" y="435254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Invalid tidak membuat retry loop.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62356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526173"/>
                </a:solidFill>
              </a:rPr>
              <a:t>Bukti mentah: evidence/U3/03-perbandingan-id.md dan evidence/U4/04-log-penting.md.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F766E"/>
                </a:solidFill>
              </a:rPr>
              <a:t>06 / DIAGNOSIS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</a:rPr>
              <a:t>Gangguan nyata: invalid event memicu retry loop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3"/>
                </a:solidFill>
              </a:rPr>
              <a:t>Masalah ditemukan dari log, lalu dipulihkan pada validasi dan conflict handling.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4937760" cy="2011680"/>
          </a:xfrm>
          <a:prstGeom prst="roundRect">
            <a:avLst>
              <a:gd name="adj" fmla="val 181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36776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42318"/>
                </a:solidFill>
              </a:rPr>
              <a:t>GEJALA / LOG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4672" y="1901952"/>
            <a:ext cx="4617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INVALID MESSAGE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run01-X01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ticket_id wajib diisi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ERROR processing message: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there is no unique or exclusion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constraint matching ON CONFLICT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80760" y="150876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DE7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1508760"/>
            <a:ext cx="73152" cy="201168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63677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65D"/>
                </a:solidFill>
              </a:rPr>
              <a:t>Akar masalah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63640" y="19385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033"/>
                </a:solidFill>
              </a:rPr>
              <a:t>ON CONFLICT(event_id) tidak punya constraint yang cocok pada rejected_messages. Error masuk ke jalur umum dan pesan di-nack + requeue, sehingga event yang sama berulang.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074920" cy="475488"/>
          </a:xfrm>
          <a:prstGeom prst="roundRect">
            <a:avLst>
              <a:gd name="adj" fmla="val 7692"/>
            </a:avLst>
          </a:prstGeom>
          <a:solidFill>
            <a:srgbClr val="D9EE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24528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✓  Gateway: ticket_id kosong -&gt; HTTP 400 sebelum publish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4069080"/>
            <a:ext cx="5074920" cy="475488"/>
          </a:xfrm>
          <a:prstGeom prst="roundRect">
            <a:avLst>
              <a:gd name="adj" fmla="val 7692"/>
            </a:avLst>
          </a:prstGeom>
          <a:solidFill>
            <a:srgbClr val="D9EE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4224528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✓  Worker: ON CONFLICT DO NOTHING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5074920" cy="475488"/>
          </a:xfrm>
          <a:prstGeom prst="roundRect">
            <a:avLst>
              <a:gd name="adj" fmla="val 7692"/>
            </a:avLst>
          </a:prstGeom>
          <a:solidFill>
            <a:srgbClr val="D9EE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910328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✓  Schema: rejected_messages.event_id UNIQUE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4754880"/>
            <a:ext cx="5074920" cy="475488"/>
          </a:xfrm>
          <a:prstGeom prst="roundRect">
            <a:avLst>
              <a:gd name="adj" fmla="val 7692"/>
            </a:avLst>
          </a:prstGeom>
          <a:solidFill>
            <a:srgbClr val="DDF4E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4910328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✓  Invalid: dicatat lalu ACK, bukan requeue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58064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526173"/>
                </a:solidFill>
              </a:rPr>
              <a:t>Hasil pemulihan: X01 tercatat satu kali; V01 tetap diproses; queue kembali kosong.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F766E"/>
                </a:solidFill>
              </a:rPr>
              <a:t>07 / BATAS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</a:rPr>
              <a:t>Apa yang belum dijanjikan prototipe ini?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3"/>
                </a:solidFill>
              </a:rPr>
              <a:t>Hasil uji kuat untuk skenario A05, tetapi belum setara sistem produksi.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337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00200"/>
            <a:ext cx="73152" cy="960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282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65D"/>
                </a:solidFill>
              </a:rPr>
              <a:t>Keamanan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029968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033"/>
                </a:solidFill>
              </a:rPr>
              <a:t>Belum ada autentikasi/otorisasi; credential lokal masih default.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337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600200"/>
            <a:ext cx="73152" cy="960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7282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65D"/>
                </a:solidFill>
              </a:rPr>
              <a:t>Reliability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2029968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033"/>
                </a:solidFill>
              </a:rPr>
              <a:t>Belum ada dead-letter exchange, backoff, dan retry limit.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229600" y="1600200"/>
            <a:ext cx="3337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600200"/>
            <a:ext cx="73152" cy="960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7282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65D"/>
                </a:solidFill>
              </a:rPr>
              <a:t>Skala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2029968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033"/>
                </a:solidFill>
              </a:rPr>
              <a:t>Satu worker, prefetch(1), belum diuji multi-replica.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40080" y="2926080"/>
            <a:ext cx="3337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926080"/>
            <a:ext cx="73152" cy="96012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0540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65D"/>
                </a:solidFill>
              </a:rPr>
              <a:t>Observability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355848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033"/>
                </a:solidFill>
              </a:rPr>
              <a:t>Belum ada metrics, tracing, atau dashboard log terpusat.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4434840" y="2926080"/>
            <a:ext cx="3337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2926080"/>
            <a:ext cx="73152" cy="96012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30540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65D"/>
                </a:solidFill>
              </a:rPr>
              <a:t>Data contract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3355848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033"/>
                </a:solidFill>
              </a:rPr>
              <a:t>Validasi payload minimum; migrasi masih berbasis init.sql.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8229600" y="2926080"/>
            <a:ext cx="3337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2926080"/>
            <a:ext cx="73152" cy="96012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30540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65D"/>
                </a:solidFill>
              </a:rPr>
              <a:t>API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0" y="3355848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033"/>
                </a:solidFill>
              </a:rPr>
              <a:t>Belum ada endpoint query status tiket.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40080" y="4800600"/>
            <a:ext cx="10927080" cy="822960"/>
          </a:xfrm>
          <a:prstGeom prst="roundRect">
            <a:avLst>
              <a:gd name="adj" fmla="val 4444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04748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0D6C6"/>
                </a:solidFill>
              </a:rPr>
              <a:t>KESIMPULAN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377440" y="4965192"/>
            <a:ext cx="8732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Event valid menjadi assignment, event invalid berhenti aman, dan event replay tidak menggandakan efek bisnis.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598932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526173"/>
                </a:solidFill>
              </a:rPr>
              <a:t>Lampiran bukti: evidence/U1-U4. Dokumen laporan: dokumen/Laporan capstone-a05.pdf.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Kelompok 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A05 - Bukti Alur Message Broker</dc:title>
  <dc:subject>Capstone A05 Ticket Support</dc:subject>
  <dc:creator>Kelompok 3</dc:creator>
  <cp:lastModifiedBy>Kelompok 3</cp:lastModifiedBy>
  <cp:revision>1</cp:revision>
  <dcterms:created xsi:type="dcterms:W3CDTF">2026-09-24T10:15:53Z</dcterms:created>
  <dcterms:modified xsi:type="dcterms:W3CDTF">2026-09-24T10:15:53Z</dcterms:modified>
</cp:coreProperties>
</file>